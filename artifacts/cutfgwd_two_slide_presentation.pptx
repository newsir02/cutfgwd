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d1db855a8f4c65" /><Relationship Type="http://schemas.openxmlformats.org/officeDocument/2006/relationships/extended-properties" Target="/docProps/app.xml" Id="R0e4c1031e8c0407a" /><Relationship Type="http://schemas.openxmlformats.org/officeDocument/2006/relationships/officeDocument" Target="/ppt/presentation.xml" Id="R58b007cc695248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ad9396bac7413c"/>
  </p:sldMasterIdLst>
  <p:notesMasterIdLst>
    <p:notesMasterId xmlns:r="http://schemas.openxmlformats.org/officeDocument/2006/relationships" r:id="Rf1465851c0b74783"/>
  </p:notesMasterIdLst>
  <p:sldIdLst>
    <p:sldId xmlns:r="http://schemas.openxmlformats.org/officeDocument/2006/relationships" id="256" r:id="R2bb5cea0a2304d59"/>
    <p:sldId xmlns:r="http://schemas.openxmlformats.org/officeDocument/2006/relationships" id="257" r:id="R654f16164b9743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42db257387433c" /><Relationship Type="http://schemas.openxmlformats.org/officeDocument/2006/relationships/slideMaster" Target="/ppt/slideMasters/slideMaster1.xml" Id="R66ad9396bac7413c" /><Relationship Type="http://schemas.openxmlformats.org/officeDocument/2006/relationships/notesMaster" Target="/ppt/notesMasters/notesMaster1.xml" Id="Rf1465851c0b74783" /><Relationship Type="http://schemas.openxmlformats.org/officeDocument/2006/relationships/presProps" Target="/ppt/presProps.xml" Id="R8477518008c343db" /><Relationship Type="http://schemas.openxmlformats.org/officeDocument/2006/relationships/tableStyles" Target="/ppt/tableStyles.xml" Id="Redaacd8e441044c9" /><Relationship Type="http://schemas.openxmlformats.org/officeDocument/2006/relationships/slide" Target="/ppt/slides/slide1.xml" Id="R2bb5cea0a2304d59" /><Relationship Type="http://schemas.openxmlformats.org/officeDocument/2006/relationships/slide" Target="/ppt/slides/slide2.xml" Id="R654f16164b9743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d3dac67a8f48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abfbd1d14c45af" /><Relationship Type="http://schemas.openxmlformats.org/officeDocument/2006/relationships/notesMaster" Target="/ppt/notesMasters/notesMaster1.xml" Id="Re1d15398fb0547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4d23b7a5a5474c" /><Relationship Type="http://schemas.openxmlformats.org/officeDocument/2006/relationships/notesMaster" Target="/ppt/notesMasters/notesMaster1.xml" Id="R2fd6c8ae3a3e4d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c2df9bf5648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9687cf9a384493" /><Relationship Type="http://schemas.openxmlformats.org/officeDocument/2006/relationships/slideLayout" Target="/ppt/slideLayouts/slideLayout1.xml" Id="R511f3751fd0344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1f3751fd0344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8b32867134a05" /><Relationship Type="http://schemas.openxmlformats.org/officeDocument/2006/relationships/notesSlide" Target="/ppt/notesSlides/notesSlide1.xml" Id="R4f38be621f7c44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5ca701912426b" /><Relationship Type="http://schemas.openxmlformats.org/officeDocument/2006/relationships/notesSlide" Target="/ppt/notesSlides/notesSlide2.xml" Id="Rf4fa5cec25174d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01D"/>
            </a:gs>
            <a:gs pos="57000">
              <a:srgbClr val="0A1B31"/>
            </a:gs>
            <a:gs pos="100000">
              <a:srgbClr val="102A4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ambient-glow-top">
            <a:extLst xmlns:a="http://schemas.openxmlformats.org/drawingml/2006/main">
              <a:ext uri="{FF2B5EF4-FFF2-40B4-BE49-F238E27FC236}">
                <a16:creationId xmlns:a16="http://schemas.microsoft.com/office/drawing/2014/main" id="{5F7BF791-92AF-4256-9653-90AA545B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285750"/>
            <a:ext cx="30480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563EB">
                  <a:alpha val="22000"/>
                </a:srgbClr>
              </a:gs>
              <a:gs pos="72000">
                <a:srgbClr val="2563EB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ambient-glow-bottom">
            <a:extLst xmlns:a="http://schemas.openxmlformats.org/drawingml/2006/main">
              <a:ext uri="{FF2B5EF4-FFF2-40B4-BE49-F238E27FC236}">
                <a16:creationId xmlns:a16="http://schemas.microsoft.com/office/drawing/2014/main" id="{65EDA191-FDF8-461F-99B5-90F5EAED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76250" y="4953000"/>
            <a:ext cx="28575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4B8A6">
                  <a:alpha val="16000"/>
                </a:srgbClr>
              </a:gs>
              <a:gs pos="72000">
                <a:srgbClr val="14B8A6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eyebrow-1">
            <a:extLst xmlns:a="http://schemas.openxmlformats.org/drawingml/2006/main">
              <a:ext uri="{FF2B5EF4-FFF2-40B4-BE49-F238E27FC236}">
                <a16:creationId xmlns:a16="http://schemas.microsoft.com/office/drawing/2014/main" id="{A1C3B015-7F36-4A2C-BEA5-C0CF342F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METHOD OVERVIEW · THREE-LEVEL DISTILLATION</a:t>
            </a:r>
          </a:p>
        </p:txBody>
      </p:sp>
      <p:sp>
        <p:nvSpPr>
          <p:cNvPr id="4" name="title-1">
            <a:extLst xmlns:a="http://schemas.openxmlformats.org/drawingml/2006/main">
              <a:ext uri="{FF2B5EF4-FFF2-40B4-BE49-F238E27FC236}">
                <a16:creationId xmlns:a16="http://schemas.microsoft.com/office/drawing/2014/main" id="{49097115-63CC-44AD-8604-ED8C3FBC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CUTFGWD：三层知识驱动的图无关时序蒸馏</a:t>
            </a:r>
          </a:p>
        </p:txBody>
      </p:sp>
      <p:sp>
        <p:nvSpPr>
          <p:cNvPr id="5" name="page-1">
            <a:extLst xmlns:a="http://schemas.openxmlformats.org/drawingml/2006/main">
              <a:ext uri="{FF2B5EF4-FFF2-40B4-BE49-F238E27FC236}">
                <a16:creationId xmlns:a16="http://schemas.microsoft.com/office/drawing/2014/main" id="{6389A31C-3865-4A12-B1C2-B35C2C98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FA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FAAC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7FD2A689-2EF4-4C12-9EA0-94F5BF95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94A68"/>
            </a:solidFill>
            <a:prstDash val="solid"/>
          </a:ln>
        </p:spPr>
      </p:sp>
      <p:sp>
        <p:nvSpPr>
          <p:cNvPr id="7" name="training-only">
            <a:extLst xmlns:a="http://schemas.openxmlformats.org/drawingml/2006/main">
              <a:ext uri="{FF2B5EF4-FFF2-40B4-BE49-F238E27FC236}">
                <a16:creationId xmlns:a16="http://schemas.microsoft.com/office/drawing/2014/main" id="{9CDD182A-304A-4A3C-9400-ACA6FC1C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381125"/>
            <a:ext cx="2800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9525">
            <a:solidFill>
              <a:srgbClr val="17255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TRAINING ONLY · 教师 → 学生</a:t>
            </a:r>
          </a:p>
        </p:txBody>
      </p:sp>
      <p:sp>
        <p:nvSpPr>
          <p:cNvPr id="8" name="distill-band-1">
            <a:extLst xmlns:a="http://schemas.openxmlformats.org/drawingml/2006/main">
              <a:ext uri="{FF2B5EF4-FFF2-40B4-BE49-F238E27FC236}">
                <a16:creationId xmlns:a16="http://schemas.microsoft.com/office/drawing/2014/main" id="{4AC1C946-3637-4F60-B978-55591907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85925"/>
            <a:ext cx="6362700" cy="866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C7FF">
              <a:alpha val="24000"/>
            </a:srgbClr>
          </a:solidFill>
          <a:ln xmlns:a="http://schemas.openxmlformats.org/drawingml/2006/main" w="13335">
            <a:solidFill>
              <a:srgbClr val="56C7FF">
                <a:alpha val="78000"/>
              </a:srgbClr>
            </a:solidFill>
            <a:prstDash val="solid"/>
          </a:ln>
        </p:spPr>
      </p:sp>
      <p:sp>
        <p:nvSpPr>
          <p:cNvPr id="9" name="distill-label-1">
            <a:extLst xmlns:a="http://schemas.openxmlformats.org/drawingml/2006/main">
              <a:ext uri="{FF2B5EF4-FFF2-40B4-BE49-F238E27FC236}">
                <a16:creationId xmlns:a16="http://schemas.microsoft.com/office/drawing/2014/main" id="{532B59DA-5134-4AE6-BFA2-39972905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6C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6C7FF"/>
                </a:solidFill>
                <a:latin typeface="Microsoft YaHei"/>
                <a:ea typeface="Microsoft YaHei"/>
                <a:cs typeface="Microsoft YaHei"/>
              </a:rPr>
              <a:t>LOGIT · 概率分布</a:t>
            </a:r>
          </a:p>
        </p:txBody>
      </p:sp>
      <p:sp>
        <p:nvSpPr>
          <p:cNvPr id="10" name="distill-formula-1">
            <a:extLst xmlns:a="http://schemas.openxmlformats.org/drawingml/2006/main">
              <a:ext uri="{FF2B5EF4-FFF2-40B4-BE49-F238E27FC236}">
                <a16:creationId xmlns:a16="http://schemas.microsoft.com/office/drawing/2014/main" id="{FDEAEED1-A759-421E-BBC8-E2C6EB5F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193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7FB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>
                <a:solidFill>
                  <a:srgbClr val="F7FBFF"/>
                </a:solidFill>
                <a:latin typeface="Cambria Math"/>
                <a:ea typeface="Cambria Math"/>
                <a:cs typeface="Cambria Math"/>
              </a:rPr>
              <a:t>𝓛KD = T² · KL(pᵀ ∥ pˢ)</a:t>
            </a:r>
          </a:p>
        </p:txBody>
      </p:sp>
      <p:sp>
        <p:nvSpPr>
          <p:cNvPr id="11" name="distill-band-2">
            <a:extLst xmlns:a="http://schemas.openxmlformats.org/drawingml/2006/main">
              <a:ext uri="{FF2B5EF4-FFF2-40B4-BE49-F238E27FC236}">
                <a16:creationId xmlns:a16="http://schemas.microsoft.com/office/drawing/2014/main" id="{AFF2B034-6B3F-4183-81CC-EDDEFB3D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81300"/>
            <a:ext cx="6362700" cy="866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>
              <a:alpha val="24000"/>
            </a:srgbClr>
          </a:solidFill>
          <a:ln xmlns:a="http://schemas.openxmlformats.org/drawingml/2006/main" w="13335">
            <a:solidFill>
              <a:srgbClr val="A78BFA">
                <a:alpha val="78000"/>
              </a:srgbClr>
            </a:solidFill>
            <a:prstDash val="solid"/>
          </a:ln>
        </p:spPr>
      </p:sp>
      <p:sp>
        <p:nvSpPr>
          <p:cNvPr id="12" name="distill-label-2">
            <a:extLst xmlns:a="http://schemas.openxmlformats.org/drawingml/2006/main">
              <a:ext uri="{FF2B5EF4-FFF2-40B4-BE49-F238E27FC236}">
                <a16:creationId xmlns:a16="http://schemas.microsoft.com/office/drawing/2014/main" id="{4FA5F5F2-D1F6-466A-AA3E-D8141E1B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RANK · 候选排序</a:t>
            </a:r>
          </a:p>
        </p:txBody>
      </p:sp>
      <p:sp>
        <p:nvSpPr>
          <p:cNvPr id="13" name="distill-formula-2">
            <a:extLst xmlns:a="http://schemas.openxmlformats.org/drawingml/2006/main">
              <a:ext uri="{FF2B5EF4-FFF2-40B4-BE49-F238E27FC236}">
                <a16:creationId xmlns:a16="http://schemas.microsoft.com/office/drawing/2014/main" id="{7D04B830-4DCB-4345-A024-CF74B9FD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146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BF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>
                <a:solidFill>
                  <a:srgbClr val="F7FBFF"/>
                </a:solidFill>
                <a:latin typeface="Cambria Math"/>
                <a:ea typeface="Cambria Math"/>
                <a:cs typeface="Cambria Math"/>
              </a:rPr>
              <a:t>𝓛W1 = ∑ₖ₌₁ᶜ⁻¹ wₖ |CDFᵀₖ − CDFˢₖ|</a:t>
            </a:r>
          </a:p>
        </p:txBody>
      </p:sp>
      <p:sp>
        <p:nvSpPr>
          <p:cNvPr id="14" name="distill-band-3">
            <a:extLst xmlns:a="http://schemas.openxmlformats.org/drawingml/2006/main">
              <a:ext uri="{FF2B5EF4-FFF2-40B4-BE49-F238E27FC236}">
                <a16:creationId xmlns:a16="http://schemas.microsoft.com/office/drawing/2014/main" id="{2E421E85-672A-49AA-83AF-C2C05DE9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76675"/>
            <a:ext cx="6362700" cy="866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D4BF">
              <a:alpha val="24000"/>
            </a:srgbClr>
          </a:solidFill>
          <a:ln xmlns:a="http://schemas.openxmlformats.org/drawingml/2006/main" w="13335">
            <a:solidFill>
              <a:srgbClr val="2DD4BF">
                <a:alpha val="78000"/>
              </a:srgbClr>
            </a:solidFill>
            <a:prstDash val="solid"/>
          </a:ln>
        </p:spPr>
      </p:sp>
      <p:sp>
        <p:nvSpPr>
          <p:cNvPr id="15" name="distill-label-3">
            <a:extLst xmlns:a="http://schemas.openxmlformats.org/drawingml/2006/main">
              <a:ext uri="{FF2B5EF4-FFF2-40B4-BE49-F238E27FC236}">
                <a16:creationId xmlns:a16="http://schemas.microsoft.com/office/drawing/2014/main" id="{B5DD7C5E-BBFF-4BC9-89BE-030250CF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52875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RELATION · 历史结构</a:t>
            </a:r>
          </a:p>
        </p:txBody>
      </p:sp>
      <p:sp>
        <p:nvSpPr>
          <p:cNvPr id="16" name="distill-formula-3">
            <a:extLst xmlns:a="http://schemas.openxmlformats.org/drawingml/2006/main">
              <a:ext uri="{FF2B5EF4-FFF2-40B4-BE49-F238E27FC236}">
                <a16:creationId xmlns:a16="http://schemas.microsoft.com/office/drawing/2014/main" id="{47600671-EBE2-4469-9274-0B430CA0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100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>
                <a:solidFill>
                  <a:srgbClr val="F7FBFF"/>
                </a:solidFill>
                <a:latin typeface="Cambria Math"/>
                <a:ea typeface="Cambria Math"/>
                <a:cs typeface="Cambria Math"/>
              </a:rPr>
              <a:t>𝓛CUT-FGW = ⟨Π★, CFGW(Π★)⟩ / ‖Π★‖₁</a:t>
            </a:r>
          </a:p>
        </p:txBody>
      </p:sp>
      <p:sp>
        <p:nvSpPr>
          <p:cNvPr id="17" name="teacher-panel">
            <a:extLst xmlns:a="http://schemas.openxmlformats.org/drawingml/2006/main">
              <a:ext uri="{FF2B5EF4-FFF2-40B4-BE49-F238E27FC236}">
                <a16:creationId xmlns:a16="http://schemas.microsoft.com/office/drawing/2014/main" id="{0147AB21-A5B8-4D1D-8663-C99A1EAA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2686050" cy="3524250"/>
          </a:xfrm>
          <a:prstGeom xmlns:a="http://schemas.openxmlformats.org/drawingml/2006/main" prst="roundRect">
            <a:avLst>
              <a:gd name="adj" fmla="val 7801"/>
            </a:avLst>
          </a:prstGeom>
          <a:gradFill xmlns:a="http://schemas.openxmlformats.org/drawingml/2006/main">
            <a:gsLst>
              <a:gs pos="0">
                <a:srgbClr val="102F49"/>
              </a:gs>
              <a:gs pos="100000">
                <a:srgbClr val="0B2034"/>
              </a:gs>
            </a:gsLst>
            <a:lin ang="8100000"/>
          </a:gradFill>
          <a:ln xmlns:a="http://schemas.openxmlformats.org/drawingml/2006/main" w="11430">
            <a:solidFill>
              <a:srgbClr val="2F83B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teacher-pill">
            <a:extLst xmlns:a="http://schemas.openxmlformats.org/drawingml/2006/main">
              <a:ext uri="{FF2B5EF4-FFF2-40B4-BE49-F238E27FC236}">
                <a16:creationId xmlns:a16="http://schemas.microsoft.com/office/drawing/2014/main" id="{55B92649-7CC2-431F-B559-43C5BF03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447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C5A"/>
          </a:solidFill>
          <a:ln xmlns:a="http://schemas.openxmlformats.org/drawingml/2006/main" w="9525">
            <a:solidFill>
              <a:srgbClr val="0D3C5A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TGN TEACHER</a:t>
            </a:r>
          </a:p>
        </p:txBody>
      </p:sp>
      <p:sp>
        <p:nvSpPr>
          <p:cNvPr id="19" name="teacher-title">
            <a:extLst xmlns:a="http://schemas.openxmlformats.org/drawingml/2006/main">
              <a:ext uri="{FF2B5EF4-FFF2-40B4-BE49-F238E27FC236}">
                <a16:creationId xmlns:a16="http://schemas.microsoft.com/office/drawing/2014/main" id="{742AE314-32B1-4560-B8BA-ACB21750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TGN 时序教师</a:t>
            </a:r>
          </a:p>
        </p:txBody>
      </p:sp>
      <p:sp>
        <p:nvSpPr>
          <p:cNvPr id="20" name="teacher-input">
            <a:extLst xmlns:a="http://schemas.openxmlformats.org/drawingml/2006/main">
              <a:ext uri="{FF2B5EF4-FFF2-40B4-BE49-F238E27FC236}">
                <a16:creationId xmlns:a16="http://schemas.microsoft.com/office/drawing/2014/main" id="{18653EF8-CAF5-4CC6-A847-0F6519F3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FA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FAAC4"/>
                </a:solidFill>
                <a:latin typeface="Microsoft YaHei"/>
                <a:ea typeface="Microsoft YaHei"/>
                <a:cs typeface="Microsoft YaHei"/>
              </a:rPr>
              <a:t>连续事件  (u, v, t, m)</a:t>
            </a:r>
          </a:p>
        </p:txBody>
      </p:sp>
      <p:sp>
        <p:nvSpPr>
          <p:cNvPr id="21" name="teacher-num-0">
            <a:extLst xmlns:a="http://schemas.openxmlformats.org/drawingml/2006/main">
              <a:ext uri="{FF2B5EF4-FFF2-40B4-BE49-F238E27FC236}">
                <a16:creationId xmlns:a16="http://schemas.microsoft.com/office/drawing/2014/main" id="{E410AB47-D924-4FEB-BBAC-1D61B3AC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teacher-step-0">
            <a:extLst xmlns:a="http://schemas.openxmlformats.org/drawingml/2006/main">
              <a:ext uri="{FF2B5EF4-FFF2-40B4-BE49-F238E27FC236}">
                <a16:creationId xmlns:a16="http://schemas.microsoft.com/office/drawing/2014/main" id="{CAA1A934-3423-42F4-B97D-2F21B413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622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TGN Memory</a:t>
            </a:r>
          </a:p>
        </p:txBody>
      </p:sp>
      <p:sp>
        <p:nvSpPr>
          <p:cNvPr id="23" name="teacher-num-1">
            <a:extLst xmlns:a="http://schemas.openxmlformats.org/drawingml/2006/main">
              <a:ext uri="{FF2B5EF4-FFF2-40B4-BE49-F238E27FC236}">
                <a16:creationId xmlns:a16="http://schemas.microsoft.com/office/drawing/2014/main" id="{B803F013-BD1D-4BD4-AB92-47791FCE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teacher-step-1">
            <a:extLst xmlns:a="http://schemas.openxmlformats.org/drawingml/2006/main">
              <a:ext uri="{FF2B5EF4-FFF2-40B4-BE49-F238E27FC236}">
                <a16:creationId xmlns:a16="http://schemas.microsoft.com/office/drawing/2014/main" id="{8C4D4A8C-6011-48C6-B4CD-19FA8E56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Temporal Neighbor</a:t>
            </a:r>
          </a:p>
        </p:txBody>
      </p:sp>
      <p:sp>
        <p:nvSpPr>
          <p:cNvPr id="25" name="teacher-num-2">
            <a:extLst xmlns:a="http://schemas.openxmlformats.org/drawingml/2006/main">
              <a:ext uri="{FF2B5EF4-FFF2-40B4-BE49-F238E27FC236}">
                <a16:creationId xmlns:a16="http://schemas.microsoft.com/office/drawing/2014/main" id="{B4884700-A60E-42E3-8BF3-60BD1F96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teacher-step-2">
            <a:extLst xmlns:a="http://schemas.openxmlformats.org/drawingml/2006/main">
              <a:ext uri="{FF2B5EF4-FFF2-40B4-BE49-F238E27FC236}">
                <a16:creationId xmlns:a16="http://schemas.microsoft.com/office/drawing/2014/main" id="{796D3EC8-4513-40AB-B3F0-42F3C893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7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Graph Attention</a:t>
            </a:r>
          </a:p>
        </p:txBody>
      </p:sp>
      <p:sp>
        <p:nvSpPr>
          <p:cNvPr id="27" name="teacher-output">
            <a:extLst xmlns:a="http://schemas.openxmlformats.org/drawingml/2006/main">
              <a:ext uri="{FF2B5EF4-FFF2-40B4-BE49-F238E27FC236}">
                <a16:creationId xmlns:a16="http://schemas.microsoft.com/office/drawing/2014/main" id="{1B4A80F1-20A0-4C46-B787-3081FF92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logits + 变长关系轨迹</a:t>
            </a:r>
          </a:p>
        </p:txBody>
      </p:sp>
      <p:sp>
        <p:nvSpPr>
          <p:cNvPr id="28" name="student-panel">
            <a:extLst xmlns:a="http://schemas.openxmlformats.org/drawingml/2006/main">
              <a:ext uri="{FF2B5EF4-FFF2-40B4-BE49-F238E27FC236}">
                <a16:creationId xmlns:a16="http://schemas.microsoft.com/office/drawing/2014/main" id="{D53C6C4A-B1D6-456A-92FC-5B5CABCC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43050"/>
            <a:ext cx="2686050" cy="3524250"/>
          </a:xfrm>
          <a:prstGeom xmlns:a="http://schemas.openxmlformats.org/drawingml/2006/main" prst="roundRect">
            <a:avLst>
              <a:gd name="adj" fmla="val 7801"/>
            </a:avLst>
          </a:prstGeom>
          <a:gradFill xmlns:a="http://schemas.openxmlformats.org/drawingml/2006/main">
            <a:gsLst>
              <a:gs pos="0">
                <a:srgbClr val="103A36"/>
              </a:gs>
              <a:gs pos="100000">
                <a:srgbClr val="0A2528"/>
              </a:gs>
            </a:gsLst>
            <a:lin ang="8100000"/>
          </a:gradFill>
          <a:ln xmlns:a="http://schemas.openxmlformats.org/drawingml/2006/main" w="11430">
            <a:solidFill>
              <a:srgbClr val="248D8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student-pill">
            <a:extLst xmlns:a="http://schemas.openxmlformats.org/drawingml/2006/main">
              <a:ext uri="{FF2B5EF4-FFF2-40B4-BE49-F238E27FC236}">
                <a16:creationId xmlns:a16="http://schemas.microsoft.com/office/drawing/2014/main" id="{5974810F-FB3F-4676-BE8F-D15055B8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1952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F3A"/>
          </a:solidFill>
          <a:ln xmlns:a="http://schemas.openxmlformats.org/drawingml/2006/main" w="9525">
            <a:solidFill>
              <a:srgbClr val="103F3A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LIGHTST STUDENT</a:t>
            </a:r>
          </a:p>
        </p:txBody>
      </p:sp>
      <p:sp>
        <p:nvSpPr>
          <p:cNvPr id="30" name="student-title">
            <a:extLst xmlns:a="http://schemas.openxmlformats.org/drawingml/2006/main">
              <a:ext uri="{FF2B5EF4-FFF2-40B4-BE49-F238E27FC236}">
                <a16:creationId xmlns:a16="http://schemas.microsoft.com/office/drawing/2014/main" id="{8F242EDE-FADC-4DC3-B5EA-5A5265DA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图无关轻量学生</a:t>
            </a:r>
          </a:p>
        </p:txBody>
      </p:sp>
      <p:sp>
        <p:nvSpPr>
          <p:cNvPr id="31" name="student-input">
            <a:extLst xmlns:a="http://schemas.openxmlformats.org/drawingml/2006/main">
              <a:ext uri="{FF2B5EF4-FFF2-40B4-BE49-F238E27FC236}">
                <a16:creationId xmlns:a16="http://schemas.microsoft.com/office/drawing/2014/main" id="{ECCEC02E-881C-444D-940C-01FEA230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1460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FA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FAAC4"/>
                </a:solidFill>
                <a:latin typeface="Microsoft YaHei"/>
                <a:ea typeface="Microsoft YaHei"/>
                <a:cs typeface="Microsoft YaHei"/>
              </a:rPr>
              <a:t>节点 ID / 属性 + 查询时间</a:t>
            </a:r>
          </a:p>
        </p:txBody>
      </p:sp>
      <p:sp>
        <p:nvSpPr>
          <p:cNvPr id="32" name="student-num-0">
            <a:extLst xmlns:a="http://schemas.openxmlformats.org/drawingml/2006/main">
              <a:ext uri="{FF2B5EF4-FFF2-40B4-BE49-F238E27FC236}">
                <a16:creationId xmlns:a16="http://schemas.microsoft.com/office/drawing/2014/main" id="{CA87AAA3-0B11-4C63-8B83-0610EF92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718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student-step-0">
            <a:extLst xmlns:a="http://schemas.openxmlformats.org/drawingml/2006/main">
              <a:ext uri="{FF2B5EF4-FFF2-40B4-BE49-F238E27FC236}">
                <a16:creationId xmlns:a16="http://schemas.microsoft.com/office/drawing/2014/main" id="{11F4FD2C-94F1-40B6-ACDD-C876138C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622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Node-Time Encoding</a:t>
            </a:r>
          </a:p>
        </p:txBody>
      </p:sp>
      <p:sp>
        <p:nvSpPr>
          <p:cNvPr id="34" name="student-num-1">
            <a:extLst xmlns:a="http://schemas.openxmlformats.org/drawingml/2006/main">
              <a:ext uri="{FF2B5EF4-FFF2-40B4-BE49-F238E27FC236}">
                <a16:creationId xmlns:a16="http://schemas.microsoft.com/office/drawing/2014/main" id="{0D60BA98-FCC1-43E7-A6CE-A88212FE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766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5" name="student-step-1">
            <a:extLst xmlns:a="http://schemas.openxmlformats.org/drawingml/2006/main">
              <a:ext uri="{FF2B5EF4-FFF2-40B4-BE49-F238E27FC236}">
                <a16:creationId xmlns:a16="http://schemas.microsoft.com/office/drawing/2014/main" id="{E1056E1D-BCDA-4318-B153-7D935FC3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67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Residual MLP</a:t>
            </a:r>
          </a:p>
        </p:txBody>
      </p:sp>
      <p:sp>
        <p:nvSpPr>
          <p:cNvPr id="36" name="student-num-2">
            <a:extLst xmlns:a="http://schemas.openxmlformats.org/drawingml/2006/main">
              <a:ext uri="{FF2B5EF4-FFF2-40B4-BE49-F238E27FC236}">
                <a16:creationId xmlns:a16="http://schemas.microsoft.com/office/drawing/2014/main" id="{8FF157F9-2508-48AE-8B73-B94FB742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81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7" name="student-step-2">
            <a:extLst xmlns:a="http://schemas.openxmlformats.org/drawingml/2006/main">
              <a:ext uri="{FF2B5EF4-FFF2-40B4-BE49-F238E27FC236}">
                <a16:creationId xmlns:a16="http://schemas.microsoft.com/office/drawing/2014/main" id="{356DB12A-D3A2-4296-B295-4A1BDF0E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7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Relation Slots</a:t>
            </a:r>
          </a:p>
        </p:txBody>
      </p:sp>
      <p:sp>
        <p:nvSpPr>
          <p:cNvPr id="38" name="student-output">
            <a:extLst xmlns:a="http://schemas.openxmlformats.org/drawingml/2006/main">
              <a:ext uri="{FF2B5EF4-FFF2-40B4-BE49-F238E27FC236}">
                <a16:creationId xmlns:a16="http://schemas.microsoft.com/office/drawing/2014/main" id="{525F8F14-F533-404E-A280-26B419E3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672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固定槽 + 快速候选打分</a:t>
            </a:r>
          </a:p>
        </p:txBody>
      </p:sp>
      <p:sp>
        <p:nvSpPr>
          <p:cNvPr id="39" name="alignment-strip">
            <a:extLst xmlns:a="http://schemas.openxmlformats.org/drawingml/2006/main">
              <a:ext uri="{FF2B5EF4-FFF2-40B4-BE49-F238E27FC236}">
                <a16:creationId xmlns:a16="http://schemas.microsoft.com/office/drawing/2014/main" id="{938186E6-48C7-4BF8-88EA-2114C3FE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87100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0A192A">
              <a:alpha val="86000"/>
            </a:srgbClr>
          </a:solidFill>
          <a:ln xmlns:a="http://schemas.openxmlformats.org/drawingml/2006/main" w="11430">
            <a:solidFill>
              <a:srgbClr val="294A68"/>
            </a:solidFill>
            <a:prstDash val="solid"/>
          </a:ln>
        </p:spPr>
      </p:sp>
      <p:sp>
        <p:nvSpPr>
          <p:cNvPr id="40" name="align-num-0">
            <a:extLst xmlns:a="http://schemas.openxmlformats.org/drawingml/2006/main">
              <a:ext uri="{FF2B5EF4-FFF2-40B4-BE49-F238E27FC236}">
                <a16:creationId xmlns:a16="http://schemas.microsoft.com/office/drawing/2014/main" id="{300819A9-D041-460C-8E8F-17FACEF7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C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6C7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1" name="align-title-0">
            <a:extLst xmlns:a="http://schemas.openxmlformats.org/drawingml/2006/main">
              <a:ext uri="{FF2B5EF4-FFF2-40B4-BE49-F238E27FC236}">
                <a16:creationId xmlns:a16="http://schemas.microsoft.com/office/drawing/2014/main" id="{C628CB74-D70D-413A-99C1-732FAF53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054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概率对齐</a:t>
            </a:r>
          </a:p>
        </p:txBody>
      </p:sp>
      <p:sp>
        <p:nvSpPr>
          <p:cNvPr id="42" name="align-formula-0">
            <a:extLst xmlns:a="http://schemas.openxmlformats.org/drawingml/2006/main">
              <a:ext uri="{FF2B5EF4-FFF2-40B4-BE49-F238E27FC236}">
                <a16:creationId xmlns:a16="http://schemas.microsoft.com/office/drawing/2014/main" id="{DBFCD835-8653-4A56-86A8-56DEB397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C7F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56C7FF"/>
                </a:solidFill>
                <a:latin typeface="Cambria Math"/>
                <a:ea typeface="Cambria Math"/>
                <a:cs typeface="Cambria Math"/>
              </a:rPr>
              <a:t>pᵀ ↔ pˢ</a:t>
            </a:r>
          </a:p>
        </p:txBody>
      </p:sp>
      <p:sp>
        <p:nvSpPr>
          <p:cNvPr id="43" name="align-divider-1">
            <a:extLst xmlns:a="http://schemas.openxmlformats.org/drawingml/2006/main">
              <a:ext uri="{FF2B5EF4-FFF2-40B4-BE49-F238E27FC236}">
                <a16:creationId xmlns:a16="http://schemas.microsoft.com/office/drawing/2014/main" id="{3E57E7C7-3C95-4262-B833-8AA14661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72125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A68"/>
            </a:solidFill>
            <a:prstDash val="solid"/>
          </a:ln>
        </p:spPr>
      </p:sp>
      <p:sp>
        <p:nvSpPr>
          <p:cNvPr id="44" name="align-num-1">
            <a:extLst xmlns:a="http://schemas.openxmlformats.org/drawingml/2006/main">
              <a:ext uri="{FF2B5EF4-FFF2-40B4-BE49-F238E27FC236}">
                <a16:creationId xmlns:a16="http://schemas.microsoft.com/office/drawing/2014/main" id="{FEE7C64C-E17A-42D8-8A0B-0238671C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816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5" name="align-title-1">
            <a:extLst xmlns:a="http://schemas.openxmlformats.org/drawingml/2006/main">
              <a:ext uri="{FF2B5EF4-FFF2-40B4-BE49-F238E27FC236}">
                <a16:creationId xmlns:a16="http://schemas.microsoft.com/office/drawing/2014/main" id="{5EA8CFF9-7733-4BA4-8113-2B10B4A3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排序对齐</a:t>
            </a:r>
          </a:p>
        </p:txBody>
      </p:sp>
      <p:sp>
        <p:nvSpPr>
          <p:cNvPr id="46" name="align-formula-1">
            <a:extLst xmlns:a="http://schemas.openxmlformats.org/drawingml/2006/main">
              <a:ext uri="{FF2B5EF4-FFF2-40B4-BE49-F238E27FC236}">
                <a16:creationId xmlns:a16="http://schemas.microsoft.com/office/drawing/2014/main" id="{3A94D2EF-0C5E-4E60-AFD8-8470EFF7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8BFA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A78BFA"/>
                </a:solidFill>
                <a:latin typeface="Cambria Math"/>
                <a:ea typeface="Cambria Math"/>
                <a:cs typeface="Cambria Math"/>
              </a:rPr>
              <a:t>CDFᵀ ↔ CDFˢ</a:t>
            </a:r>
          </a:p>
        </p:txBody>
      </p:sp>
      <p:sp>
        <p:nvSpPr>
          <p:cNvPr id="47" name="align-divider-2">
            <a:extLst xmlns:a="http://schemas.openxmlformats.org/drawingml/2006/main">
              <a:ext uri="{FF2B5EF4-FFF2-40B4-BE49-F238E27FC236}">
                <a16:creationId xmlns:a16="http://schemas.microsoft.com/office/drawing/2014/main" id="{CBD66FAF-082B-47B2-B5FF-CC931B62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72125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A68"/>
            </a:solidFill>
            <a:prstDash val="solid"/>
          </a:ln>
        </p:spPr>
      </p:sp>
      <p:sp>
        <p:nvSpPr>
          <p:cNvPr id="48" name="align-num-2">
            <a:extLst xmlns:a="http://schemas.openxmlformats.org/drawingml/2006/main">
              <a:ext uri="{FF2B5EF4-FFF2-40B4-BE49-F238E27FC236}">
                <a16:creationId xmlns:a16="http://schemas.microsoft.com/office/drawing/2014/main" id="{6C1F4586-CE03-4225-A4EB-F5698A59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816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9" name="align-title-2">
            <a:extLst xmlns:a="http://schemas.openxmlformats.org/drawingml/2006/main">
              <a:ext uri="{FF2B5EF4-FFF2-40B4-BE49-F238E27FC236}">
                <a16:creationId xmlns:a16="http://schemas.microsoft.com/office/drawing/2014/main" id="{7C84A3FB-94C8-4F21-B2BB-DEF3203A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054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关系结构对齐</a:t>
            </a:r>
          </a:p>
        </p:txBody>
      </p:sp>
      <p:sp>
        <p:nvSpPr>
          <p:cNvPr id="50" name="align-formula-2">
            <a:extLst xmlns:a="http://schemas.openxmlformats.org/drawingml/2006/main">
              <a:ext uri="{FF2B5EF4-FFF2-40B4-BE49-F238E27FC236}">
                <a16:creationId xmlns:a16="http://schemas.microsoft.com/office/drawing/2014/main" id="{B60E908B-D2B8-4D3A-AF40-77E3AAFD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9055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DD4B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2DD4BF"/>
                </a:solidFill>
                <a:latin typeface="Cambria Math"/>
                <a:ea typeface="Cambria Math"/>
                <a:cs typeface="Cambria Math"/>
              </a:rPr>
              <a:t>变长历史 ↔ 固定槽</a:t>
            </a:r>
          </a:p>
        </p:txBody>
      </p:sp>
    </p:spTree>
    <p:extLst>
      <p:ext uri="{BB962C8B-B14F-4D97-AF65-F5344CB8AC3E}">
        <p14:creationId xmlns:p14="http://schemas.microsoft.com/office/powerpoint/2010/main" val="1940333744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01D"/>
            </a:gs>
            <a:gs pos="57000">
              <a:srgbClr val="0A1B31"/>
            </a:gs>
            <a:gs pos="100000">
              <a:srgbClr val="102A4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ambient-glow-top">
            <a:extLst xmlns:a="http://schemas.openxmlformats.org/drawingml/2006/main">
              <a:ext uri="{FF2B5EF4-FFF2-40B4-BE49-F238E27FC236}">
                <a16:creationId xmlns:a16="http://schemas.microsoft.com/office/drawing/2014/main" id="{2A98BC94-7703-4F06-8B02-836E0069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285750"/>
            <a:ext cx="30480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563EB">
                  <a:alpha val="22000"/>
                </a:srgbClr>
              </a:gs>
              <a:gs pos="72000">
                <a:srgbClr val="2563EB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ambient-glow-bottom">
            <a:extLst xmlns:a="http://schemas.openxmlformats.org/drawingml/2006/main">
              <a:ext uri="{FF2B5EF4-FFF2-40B4-BE49-F238E27FC236}">
                <a16:creationId xmlns:a16="http://schemas.microsoft.com/office/drawing/2014/main" id="{1669979A-090A-4C3B-83B2-1F9888BD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76250" y="4953000"/>
            <a:ext cx="28575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4B8A6">
                  <a:alpha val="16000"/>
                </a:srgbClr>
              </a:gs>
              <a:gs pos="72000">
                <a:srgbClr val="14B8A6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eyebrow-2">
            <a:extLst xmlns:a="http://schemas.openxmlformats.org/drawingml/2006/main">
              <a:ext uri="{FF2B5EF4-FFF2-40B4-BE49-F238E27FC236}">
                <a16:creationId xmlns:a16="http://schemas.microsoft.com/office/drawing/2014/main" id="{0A4458A3-1BF2-4C4C-9627-FAA17FE7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MATHEMATICAL OBJECTIVE · NO DERIVATION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40D9AC11-EE2F-4BD6-BB71-1D1BFC69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联合蒸馏目标：任务监督 × 三层迁移 × 槽多样性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39A7426D-568C-4665-9498-B70B9A18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FA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FAAC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4C071069-25F0-40EE-B4F8-B6FFFDEA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94A68"/>
            </a:solidFill>
            <a:prstDash val="solid"/>
          </a:ln>
        </p:spPr>
      </p:sp>
      <p:sp>
        <p:nvSpPr>
          <p:cNvPr id="7" name="joint-objective-frame">
            <a:extLst xmlns:a="http://schemas.openxmlformats.org/drawingml/2006/main">
              <a:ext uri="{FF2B5EF4-FFF2-40B4-BE49-F238E27FC236}">
                <a16:creationId xmlns:a16="http://schemas.microsoft.com/office/drawing/2014/main" id="{9E5B7FE4-DDF3-4059-841D-64DE95AA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11049000" cy="952500"/>
          </a:xfrm>
          <a:prstGeom xmlns:a="http://schemas.openxmlformats.org/drawingml/2006/main" prst="roundRect">
            <a:avLst>
              <a:gd name="adj" fmla="val 18000"/>
            </a:avLst>
          </a:prstGeom>
          <a:gradFill xmlns:a="http://schemas.openxmlformats.org/drawingml/2006/main">
            <a:gsLst>
              <a:gs pos="0">
                <a:srgbClr val="0B2035"/>
              </a:gs>
              <a:gs pos="100000">
                <a:srgbClr val="133250"/>
              </a:gs>
            </a:gsLst>
            <a:lin ang="0"/>
          </a:gradFill>
          <a:ln xmlns:a="http://schemas.openxmlformats.org/drawingml/2006/main" w="11430">
            <a:solidFill>
              <a:srgbClr val="355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joint-objective-label">
            <a:extLst xmlns:a="http://schemas.openxmlformats.org/drawingml/2006/main">
              <a:ext uri="{FF2B5EF4-FFF2-40B4-BE49-F238E27FC236}">
                <a16:creationId xmlns:a16="http://schemas.microsoft.com/office/drawing/2014/main" id="{DCA76988-F011-4FE5-8155-D6FBD134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A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FAAC4"/>
                </a:solidFill>
                <a:latin typeface="Microsoft YaHei"/>
                <a:ea typeface="Microsoft YaHei"/>
                <a:cs typeface="Microsoft YaHei"/>
              </a:rPr>
              <a:t>JOINT OBJECTIVE</a:t>
            </a:r>
          </a:p>
        </p:txBody>
      </p:sp>
      <p:sp>
        <p:nvSpPr>
          <p:cNvPr id="9" name="joint-objective-line-1">
            <a:extLst xmlns:a="http://schemas.openxmlformats.org/drawingml/2006/main">
              <a:ext uri="{FF2B5EF4-FFF2-40B4-BE49-F238E27FC236}">
                <a16:creationId xmlns:a16="http://schemas.microsoft.com/office/drawing/2014/main" id="{7512041F-8ADF-4E2C-8766-3A1E55C1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97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7FBFF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F7FBFF"/>
                </a:solidFill>
                <a:latin typeface="Cambria Math"/>
                <a:ea typeface="Cambria Math"/>
                <a:cs typeface="Cambria Math"/>
              </a:rPr>
              <a:t>𝓛 = </a:t>
            </a:r>
            <a:r>
              <a:rPr sz="2100" b="0">
                <a:solidFill>
                  <a:srgbClr val="F7FBFF"/>
                </a:solidFill>
                <a:latin typeface="Cambria Math"/>
                <a:ea typeface="Cambria Math"/>
                <a:cs typeface="Cambria Math"/>
              </a:rPr>
              <a:t>λtask𝓛CE</a:t>
            </a:r>
            <a:r>
              <a:rPr sz="2100" b="0">
                <a:solidFill>
                  <a:srgbClr val="F7FBFF"/>
                </a:solidFill>
                <a:latin typeface="Cambria Math"/>
                <a:ea typeface="Cambria Math"/>
                <a:cs typeface="Cambria Math"/>
              </a:rPr>
              <a:t>  +  </a:t>
            </a:r>
            <a:r>
              <a:rPr sz="2100" b="0">
                <a:solidFill>
                  <a:srgbClr val="F7FBFF"/>
                </a:solidFill>
                <a:latin typeface="Cambria Math"/>
                <a:ea typeface="Cambria Math"/>
                <a:cs typeface="Cambria Math"/>
              </a:rPr>
              <a:t>λlogit𝓛KD</a:t>
            </a:r>
            <a:r>
              <a:rPr sz="2100" b="0">
                <a:solidFill>
                  <a:srgbClr val="F7FBFF"/>
                </a:solidFill>
                <a:latin typeface="Cambria Math"/>
                <a:ea typeface="Cambria Math"/>
                <a:cs typeface="Cambria Math"/>
              </a:rPr>
              <a:t>  +  </a:t>
            </a:r>
            <a:r>
              <a:rPr sz="2100" b="0">
                <a:solidFill>
                  <a:srgbClr val="F7FBFF"/>
                </a:solidFill>
                <a:latin typeface="Cambria Math"/>
                <a:ea typeface="Cambria Math"/>
                <a:cs typeface="Cambria Math"/>
              </a:rPr>
              <a:t>λrank𝓛W1</a:t>
            </a:r>
          </a:p>
        </p:txBody>
      </p:sp>
      <p:sp>
        <p:nvSpPr>
          <p:cNvPr id="10" name="joint-objective-line-2">
            <a:extLst xmlns:a="http://schemas.openxmlformats.org/drawingml/2006/main">
              <a:ext uri="{FF2B5EF4-FFF2-40B4-BE49-F238E27FC236}">
                <a16:creationId xmlns:a16="http://schemas.microsoft.com/office/drawing/2014/main" id="{6A2D7895-1033-46B6-96D9-103B1ED4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7FB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F7FBFF"/>
                </a:solidFill>
                <a:latin typeface="Cambria Math"/>
                <a:ea typeface="Cambria Math"/>
                <a:cs typeface="Cambria Math"/>
              </a:rPr>
              <a:t>+  </a:t>
            </a:r>
            <a:r>
              <a:rPr sz="2025" b="0">
                <a:solidFill>
                  <a:srgbClr val="F7FBFF"/>
                </a:solidFill>
                <a:latin typeface="Cambria Math"/>
                <a:ea typeface="Cambria Math"/>
                <a:cs typeface="Cambria Math"/>
              </a:rPr>
              <a:t>λrel𝓛CUT-FGW</a:t>
            </a:r>
            <a:r>
              <a:rPr sz="2025" b="0">
                <a:solidFill>
                  <a:srgbClr val="F7FBFF"/>
                </a:solidFill>
                <a:latin typeface="Cambria Math"/>
                <a:ea typeface="Cambria Math"/>
                <a:cs typeface="Cambria Math"/>
              </a:rPr>
              <a:t>  +  </a:t>
            </a:r>
            <a:r>
              <a:rPr sz="2025" b="0">
                <a:solidFill>
                  <a:srgbClr val="F7FBFF"/>
                </a:solidFill>
                <a:latin typeface="Cambria Math"/>
                <a:ea typeface="Cambria Math"/>
                <a:cs typeface="Cambria Math"/>
              </a:rPr>
              <a:t>λdiv𝓛div</a:t>
            </a:r>
          </a:p>
        </p:txBody>
      </p:sp>
      <p:sp>
        <p:nvSpPr>
          <p:cNvPr id="11" name="ce-kd-accent">
            <a:extLst xmlns:a="http://schemas.openxmlformats.org/drawingml/2006/main">
              <a:ext uri="{FF2B5EF4-FFF2-40B4-BE49-F238E27FC236}">
                <a16:creationId xmlns:a16="http://schemas.microsoft.com/office/drawing/2014/main" id="{EB097704-1F8F-4CA4-9689-40C5C621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3">
            <a:solidFill>
              <a:srgbClr val="56C7FF"/>
            </a:solidFill>
            <a:prstDash val="solid"/>
          </a:ln>
        </p:spPr>
      </p:sp>
      <p:sp>
        <p:nvSpPr>
          <p:cNvPr id="12" name="ce-kd-index">
            <a:extLst xmlns:a="http://schemas.openxmlformats.org/drawingml/2006/main">
              <a:ext uri="{FF2B5EF4-FFF2-40B4-BE49-F238E27FC236}">
                <a16:creationId xmlns:a16="http://schemas.microsoft.com/office/drawing/2014/main" id="{B75C29C7-6748-47F4-8C22-0B512226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C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6C7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ce-kd-label">
            <a:extLst xmlns:a="http://schemas.openxmlformats.org/drawingml/2006/main">
              <a:ext uri="{FF2B5EF4-FFF2-40B4-BE49-F238E27FC236}">
                <a16:creationId xmlns:a16="http://schemas.microsoft.com/office/drawing/2014/main" id="{83836C15-194A-4D28-AF9D-2379B144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479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CE + LOGIT KD</a:t>
            </a:r>
          </a:p>
        </p:txBody>
      </p:sp>
      <p:sp>
        <p:nvSpPr>
          <p:cNvPr id="14" name="ce-formula">
            <a:extLst xmlns:a="http://schemas.openxmlformats.org/drawingml/2006/main">
              <a:ext uri="{FF2B5EF4-FFF2-40B4-BE49-F238E27FC236}">
                <a16:creationId xmlns:a16="http://schemas.microsoft.com/office/drawing/2014/main" id="{4B964E40-31E0-4B90-BEA7-917F8EAD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>
                <a:solidFill>
                  <a:srgbClr val="FBBF24"/>
                </a:solidFill>
                <a:latin typeface="Cambria Math"/>
                <a:ea typeface="Cambria Math"/>
                <a:cs typeface="Cambria Math"/>
              </a:rPr>
              <a:t>𝓛CE = − 1/B ∑b log [ exp(zˢ[b,yb]) / ∑c exp(zˢ[b,c]) ]</a:t>
            </a:r>
          </a:p>
        </p:txBody>
      </p:sp>
      <p:sp>
        <p:nvSpPr>
          <p:cNvPr id="15" name="probability-definitions">
            <a:extLst xmlns:a="http://schemas.openxmlformats.org/drawingml/2006/main">
              <a:ext uri="{FF2B5EF4-FFF2-40B4-BE49-F238E27FC236}">
                <a16:creationId xmlns:a16="http://schemas.microsoft.com/office/drawing/2014/main" id="{B74B1CFA-9D25-4700-8F43-9A1E8F1A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528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8F7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D9E8F7"/>
                </a:solidFill>
                <a:latin typeface="Cambria Math"/>
                <a:ea typeface="Cambria Math"/>
                <a:cs typeface="Cambria Math"/>
              </a:rPr>
              <a:t>pᵀ[b,c] = softmax(zᵀ[b]/T)c,    pˢ[b,c] = softmax(zˢ[b]/T)c</a:t>
            </a:r>
          </a:p>
        </p:txBody>
      </p:sp>
      <p:sp>
        <p:nvSpPr>
          <p:cNvPr id="16" name="kd-formula">
            <a:extLst xmlns:a="http://schemas.openxmlformats.org/drawingml/2006/main">
              <a:ext uri="{FF2B5EF4-FFF2-40B4-BE49-F238E27FC236}">
                <a16:creationId xmlns:a16="http://schemas.microsoft.com/office/drawing/2014/main" id="{C0C35014-9FAB-4DD7-A3A6-6836129B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C7F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56C7FF"/>
                </a:solidFill>
                <a:latin typeface="Cambria Math"/>
                <a:ea typeface="Cambria Math"/>
                <a:cs typeface="Cambria Math"/>
              </a:rPr>
              <a:t>𝓛KD = T²/B ∑b,c pᵀ[b,c] log( pᵀ[b,c] / pˢ[b,c] )</a:t>
            </a:r>
          </a:p>
        </p:txBody>
      </p:sp>
      <p:sp>
        <p:nvSpPr>
          <p:cNvPr id="17" name="upper-divider">
            <a:extLst xmlns:a="http://schemas.openxmlformats.org/drawingml/2006/main">
              <a:ext uri="{FF2B5EF4-FFF2-40B4-BE49-F238E27FC236}">
                <a16:creationId xmlns:a16="http://schemas.microsoft.com/office/drawing/2014/main" id="{FAE7CE3C-8349-4664-A468-68C23546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43175"/>
            <a:ext cx="0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94A68"/>
            </a:solidFill>
            <a:prstDash val="solid"/>
          </a:ln>
        </p:spPr>
      </p:sp>
      <p:sp>
        <p:nvSpPr>
          <p:cNvPr id="18" name="rank-w1-accent">
            <a:extLst xmlns:a="http://schemas.openxmlformats.org/drawingml/2006/main">
              <a:ext uri="{FF2B5EF4-FFF2-40B4-BE49-F238E27FC236}">
                <a16:creationId xmlns:a16="http://schemas.microsoft.com/office/drawing/2014/main" id="{3F731D8D-7E55-4AAC-ADD7-D72D711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3">
            <a:solidFill>
              <a:srgbClr val="A78BFA"/>
            </a:solidFill>
            <a:prstDash val="solid"/>
          </a:ln>
        </p:spPr>
      </p:sp>
      <p:sp>
        <p:nvSpPr>
          <p:cNvPr id="19" name="rank-w1-index">
            <a:extLst xmlns:a="http://schemas.openxmlformats.org/drawingml/2006/main">
              <a:ext uri="{FF2B5EF4-FFF2-40B4-BE49-F238E27FC236}">
                <a16:creationId xmlns:a16="http://schemas.microsoft.com/office/drawing/2014/main" id="{DFDA2B4D-778A-41A0-A1F7-6A705C11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rank-w1-label">
            <a:extLst xmlns:a="http://schemas.openxmlformats.org/drawingml/2006/main">
              <a:ext uri="{FF2B5EF4-FFF2-40B4-BE49-F238E27FC236}">
                <a16:creationId xmlns:a16="http://schemas.microsoft.com/office/drawing/2014/main" id="{8CD93740-0DD6-40A9-8920-EAC5E85A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05075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RANK-WASSERSTEIN</a:t>
            </a:r>
          </a:p>
        </p:txBody>
      </p:sp>
      <p:sp>
        <p:nvSpPr>
          <p:cNvPr id="21" name="rank-order-formula">
            <a:extLst xmlns:a="http://schemas.openxmlformats.org/drawingml/2006/main">
              <a:ext uri="{FF2B5EF4-FFF2-40B4-BE49-F238E27FC236}">
                <a16:creationId xmlns:a16="http://schemas.microsoft.com/office/drawing/2014/main" id="{8274E34F-A380-4D99-97C1-A5E331DC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531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8F7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>
                <a:solidFill>
                  <a:srgbClr val="D9E8F7"/>
                </a:solidFill>
                <a:latin typeface="Cambria Math"/>
                <a:ea typeface="Cambria Math"/>
                <a:cs typeface="Cambria Math"/>
              </a:rPr>
              <a:t>πb = argsort(zᵀ[b]),    Fᴹ[b,k] = ∑ᵏᵣ₌₁ pᴹ[b,πb(r)]</a:t>
            </a:r>
          </a:p>
        </p:txBody>
      </p:sp>
      <p:sp>
        <p:nvSpPr>
          <p:cNvPr id="22" name="w1-formula-line-1">
            <a:extLst xmlns:a="http://schemas.openxmlformats.org/drawingml/2006/main">
              <a:ext uri="{FF2B5EF4-FFF2-40B4-BE49-F238E27FC236}">
                <a16:creationId xmlns:a16="http://schemas.microsoft.com/office/drawing/2014/main" id="{4EC8098D-BE81-4A12-B994-76570229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992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78BF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A78BFA"/>
                </a:solidFill>
                <a:latin typeface="Cambria Math"/>
                <a:ea typeface="Cambria Math"/>
                <a:cs typeface="Cambria Math"/>
              </a:rPr>
              <a:t>𝓛W1 = 1/B ∑b  1/(C−1) ∑ᶜ⁻¹ₖ₌₁</a:t>
            </a:r>
          </a:p>
        </p:txBody>
      </p:sp>
      <p:sp>
        <p:nvSpPr>
          <p:cNvPr id="23" name="w1-formula-line-2">
            <a:extLst xmlns:a="http://schemas.openxmlformats.org/drawingml/2006/main">
              <a:ext uri="{FF2B5EF4-FFF2-40B4-BE49-F238E27FC236}">
                <a16:creationId xmlns:a16="http://schemas.microsoft.com/office/drawing/2014/main" id="{C68FB667-F6FE-496D-B0E9-5DFAB89E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9567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78BFA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>
                <a:solidFill>
                  <a:srgbClr val="A78BFA"/>
                </a:solidFill>
                <a:latin typeface="Cambria Math"/>
                <a:ea typeface="Cambria Math"/>
                <a:cs typeface="Cambria Math"/>
              </a:rPr>
              <a:t>wₖ |Fᵀ[b,k] − Fˢ[b,k]|</a:t>
            </a:r>
          </a:p>
        </p:txBody>
      </p:sp>
      <p:sp>
        <p:nvSpPr>
          <p:cNvPr id="24" name="lower-separator">
            <a:extLst xmlns:a="http://schemas.openxmlformats.org/drawingml/2006/main">
              <a:ext uri="{FF2B5EF4-FFF2-40B4-BE49-F238E27FC236}">
                <a16:creationId xmlns:a16="http://schemas.microsoft.com/office/drawing/2014/main" id="{847B54D8-6C83-4761-ACE1-54E211D9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94A68"/>
            </a:solidFill>
            <a:prstDash val="solid"/>
          </a:ln>
        </p:spPr>
      </p:sp>
      <p:sp>
        <p:nvSpPr>
          <p:cNvPr id="25" name="cutfgw-accent">
            <a:extLst xmlns:a="http://schemas.openxmlformats.org/drawingml/2006/main">
              <a:ext uri="{FF2B5EF4-FFF2-40B4-BE49-F238E27FC236}">
                <a16:creationId xmlns:a16="http://schemas.microsoft.com/office/drawing/2014/main" id="{7B82A487-F922-40A1-8B33-42439B7C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3">
            <a:solidFill>
              <a:srgbClr val="2DD4BF"/>
            </a:solidFill>
            <a:prstDash val="solid"/>
          </a:ln>
        </p:spPr>
      </p:sp>
      <p:sp>
        <p:nvSpPr>
          <p:cNvPr id="26" name="cutfgw-index">
            <a:extLst xmlns:a="http://schemas.openxmlformats.org/drawingml/2006/main">
              <a:ext uri="{FF2B5EF4-FFF2-40B4-BE49-F238E27FC236}">
                <a16:creationId xmlns:a16="http://schemas.microsoft.com/office/drawing/2014/main" id="{4DE3CBE2-CAD6-4A06-9FA9-91E0DC11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cutfgw-label">
            <a:extLst xmlns:a="http://schemas.openxmlformats.org/drawingml/2006/main">
              <a:ext uri="{FF2B5EF4-FFF2-40B4-BE49-F238E27FC236}">
                <a16:creationId xmlns:a16="http://schemas.microsoft.com/office/drawing/2014/main" id="{80B9C57D-260A-4636-BE9E-80D0CBFE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86225"/>
            <a:ext cx="662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CUT-FGW COST</a:t>
            </a:r>
          </a:p>
        </p:txBody>
      </p:sp>
      <p:sp>
        <p:nvSpPr>
          <p:cNvPr id="28" name="attribute-cost">
            <a:extLst xmlns:a="http://schemas.openxmlformats.org/drawingml/2006/main">
              <a:ext uri="{FF2B5EF4-FFF2-40B4-BE49-F238E27FC236}">
                <a16:creationId xmlns:a16="http://schemas.microsoft.com/office/drawing/2014/main" id="{06A27707-8DAF-475E-84E1-C3528085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D4B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2DD4BF"/>
                </a:solidFill>
                <a:latin typeface="Cambria Math"/>
                <a:ea typeface="Cambria Math"/>
                <a:cs typeface="Cambria Math"/>
              </a:rPr>
              <a:t>Aᵢⱼ = (ãᵀᵢ − aˢⱼ)²</a:t>
            </a:r>
          </a:p>
        </p:txBody>
      </p:sp>
      <p:sp>
        <p:nvSpPr>
          <p:cNvPr id="29" name="gw-cost">
            <a:extLst xmlns:a="http://schemas.openxmlformats.org/drawingml/2006/main">
              <a:ext uri="{FF2B5EF4-FFF2-40B4-BE49-F238E27FC236}">
                <a16:creationId xmlns:a16="http://schemas.microsoft.com/office/drawing/2014/main" id="{25597416-DDBE-43A4-9E60-DAC1AD7B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8F7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>
                <a:solidFill>
                  <a:srgbClr val="D9E8F7"/>
                </a:solidFill>
                <a:latin typeface="Cambria Math"/>
                <a:ea typeface="Cambria Math"/>
                <a:cs typeface="Cambria Math"/>
              </a:rPr>
              <a:t>Gᵢⱼ(Dᵀ,Dˢ,Π) = ∑ₖ,ₗ (Dᵀᵢₖ − Dˢⱼₗ)² Πₖₗ</a:t>
            </a:r>
          </a:p>
        </p:txBody>
      </p:sp>
      <p:sp>
        <p:nvSpPr>
          <p:cNvPr id="30" name="fgw-cost-line-1">
            <a:extLst xmlns:a="http://schemas.openxmlformats.org/drawingml/2006/main">
              <a:ext uri="{FF2B5EF4-FFF2-40B4-BE49-F238E27FC236}">
                <a16:creationId xmlns:a16="http://schemas.microsoft.com/office/drawing/2014/main" id="{A5FC2D5C-B376-4E5B-A8B7-5EC089CB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>
                <a:solidFill>
                  <a:srgbClr val="2DD4BF"/>
                </a:solidFill>
                <a:latin typeface="Cambria Math"/>
                <a:ea typeface="Cambria Math"/>
                <a:cs typeface="Cambria Math"/>
              </a:rPr>
              <a:t>CFGW(Π) = αA + (1−α) ·</a:t>
            </a:r>
          </a:p>
        </p:txBody>
      </p:sp>
      <p:sp>
        <p:nvSpPr>
          <p:cNvPr id="31" name="fgw-cost-line-2">
            <a:extLst xmlns:a="http://schemas.openxmlformats.org/drawingml/2006/main">
              <a:ext uri="{FF2B5EF4-FFF2-40B4-BE49-F238E27FC236}">
                <a16:creationId xmlns:a16="http://schemas.microsoft.com/office/drawing/2014/main" id="{39AFD344-C52B-4B52-9EDF-B0549DFC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DD4B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2DD4BF"/>
                </a:solidFill>
                <a:latin typeface="Cambria Math"/>
                <a:ea typeface="Cambria Math"/>
                <a:cs typeface="Cambria Math"/>
              </a:rPr>
              <a:t>[ λₘG(Dᵀₘ,Dˢₘ,Π) + λdG(Dᵀd,Dˢd,Π) ] / (λₘ+λd)</a:t>
            </a:r>
          </a:p>
        </p:txBody>
      </p:sp>
      <p:sp>
        <p:nvSpPr>
          <p:cNvPr id="32" name="lower-divider">
            <a:extLst xmlns:a="http://schemas.openxmlformats.org/drawingml/2006/main">
              <a:ext uri="{FF2B5EF4-FFF2-40B4-BE49-F238E27FC236}">
                <a16:creationId xmlns:a16="http://schemas.microsoft.com/office/drawing/2014/main" id="{B5603C53-D783-4867-96F5-65DCBEF7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2432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94A68"/>
            </a:solidFill>
            <a:prstDash val="solid"/>
          </a:ln>
        </p:spPr>
      </p:sp>
      <p:sp>
        <p:nvSpPr>
          <p:cNvPr id="33" name="sinkhorn-accent">
            <a:extLst xmlns:a="http://schemas.openxmlformats.org/drawingml/2006/main">
              <a:ext uri="{FF2B5EF4-FFF2-40B4-BE49-F238E27FC236}">
                <a16:creationId xmlns:a16="http://schemas.microsoft.com/office/drawing/2014/main" id="{E7D57BCA-AE43-4360-9082-CCDEDC51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767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3">
            <a:solidFill>
              <a:srgbClr val="38BDF8"/>
            </a:solidFill>
            <a:prstDash val="solid"/>
          </a:ln>
        </p:spPr>
      </p:sp>
      <p:sp>
        <p:nvSpPr>
          <p:cNvPr id="34" name="sinkhorn-index">
            <a:extLst xmlns:a="http://schemas.openxmlformats.org/drawingml/2006/main">
              <a:ext uri="{FF2B5EF4-FFF2-40B4-BE49-F238E27FC236}">
                <a16:creationId xmlns:a16="http://schemas.microsoft.com/office/drawing/2014/main" id="{0E209813-5AB7-4382-9235-C6D0E994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529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sinkhorn-label">
            <a:extLst xmlns:a="http://schemas.openxmlformats.org/drawingml/2006/main">
              <a:ext uri="{FF2B5EF4-FFF2-40B4-BE49-F238E27FC236}">
                <a16:creationId xmlns:a16="http://schemas.microsoft.com/office/drawing/2014/main" id="{D633C927-54BF-41C4-B2B5-C1168ADE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8622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UNBALANCED SINKHORN</a:t>
            </a:r>
          </a:p>
        </p:txBody>
      </p:sp>
      <p:sp>
        <p:nvSpPr>
          <p:cNvPr id="36" name="kernel-formula">
            <a:extLst xmlns:a="http://schemas.openxmlformats.org/drawingml/2006/main">
              <a:ext uri="{FF2B5EF4-FFF2-40B4-BE49-F238E27FC236}">
                <a16:creationId xmlns:a16="http://schemas.microsoft.com/office/drawing/2014/main" id="{BB1A43C2-1532-4550-B939-52A5BBB4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38650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8BDF8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>
                <a:solidFill>
                  <a:srgbClr val="38BDF8"/>
                </a:solidFill>
                <a:latin typeface="Cambria Math"/>
                <a:ea typeface="Cambria Math"/>
                <a:cs typeface="Cambria Math"/>
              </a:rPr>
              <a:t>K = P ⊙ exp(−CFGW/ε)</a:t>
            </a:r>
          </a:p>
        </p:txBody>
      </p:sp>
      <p:sp>
        <p:nvSpPr>
          <p:cNvPr id="37" name="rho-formula">
            <a:extLst xmlns:a="http://schemas.openxmlformats.org/drawingml/2006/main">
              <a:ext uri="{FF2B5EF4-FFF2-40B4-BE49-F238E27FC236}">
                <a16:creationId xmlns:a16="http://schemas.microsoft.com/office/drawing/2014/main" id="{20C2E4B2-C3E2-4E50-A03E-8D20ECA6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33925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D9E8F7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>
                <a:solidFill>
                  <a:srgbClr val="D9E8F7"/>
                </a:solidFill>
                <a:latin typeface="Cambria Math"/>
                <a:ea typeface="Cambria Math"/>
                <a:cs typeface="Cambria Math"/>
              </a:rPr>
              <a:t>ρ = τ / (τ+ε)</a:t>
            </a:r>
          </a:p>
        </p:txBody>
      </p:sp>
      <p:sp>
        <p:nvSpPr>
          <p:cNvPr id="38" name="sinkhorn-updates">
            <a:extLst xmlns:a="http://schemas.openxmlformats.org/drawingml/2006/main">
              <a:ext uri="{FF2B5EF4-FFF2-40B4-BE49-F238E27FC236}">
                <a16:creationId xmlns:a16="http://schemas.microsoft.com/office/drawing/2014/main" id="{496E2C16-49D5-42DE-B7D8-BB4C8BAE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38725"/>
            <a:ext cx="3562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38BDF8"/>
                </a:solidFill>
                <a:latin typeface="Cambria Math"/>
                <a:ea typeface="Cambria Math"/>
                <a:cs typeface="Cambria Math"/>
              </a:rPr>
              <a:t>u ← (a / Kv) ^ρ</a:t>
            </a:r>
          </a:p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38BDF8"/>
                </a:solidFill>
                <a:latin typeface="Cambria Math"/>
                <a:ea typeface="Cambria Math"/>
                <a:cs typeface="Cambria Math"/>
              </a:rPr>
              <a:t>v ← (b / Kᵀu) ^ρ</a:t>
            </a:r>
          </a:p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38BDF8"/>
                </a:solidFill>
                <a:latin typeface="Cambria Math"/>
                <a:ea typeface="Cambria Math"/>
                <a:cs typeface="Cambria Math"/>
              </a:rPr>
              <a:t>Π★ = diag(u) K diag(v)</a:t>
            </a:r>
          </a:p>
        </p:txBody>
      </p:sp>
      <p:sp>
        <p:nvSpPr>
          <p:cNvPr id="39" name="diversity-footer">
            <a:extLst xmlns:a="http://schemas.openxmlformats.org/drawingml/2006/main">
              <a:ext uri="{FF2B5EF4-FFF2-40B4-BE49-F238E27FC236}">
                <a16:creationId xmlns:a16="http://schemas.microsoft.com/office/drawing/2014/main" id="{ACE9F436-89CB-4206-B796-A525544D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30162C">
              <a:alpha val="72000"/>
            </a:srgbClr>
          </a:solidFill>
          <a:ln xmlns:a="http://schemas.openxmlformats.org/drawingml/2006/main" w="11430">
            <a:solidFill>
              <a:srgbClr val="8E3B75"/>
            </a:solidFill>
            <a:prstDash val="solid"/>
          </a:ln>
        </p:spPr>
      </p:sp>
      <p:sp>
        <p:nvSpPr>
          <p:cNvPr id="40" name="diversity-label">
            <a:extLst xmlns:a="http://schemas.openxmlformats.org/drawingml/2006/main">
              <a:ext uri="{FF2B5EF4-FFF2-40B4-BE49-F238E27FC236}">
                <a16:creationId xmlns:a16="http://schemas.microsoft.com/office/drawing/2014/main" id="{A5975EEC-292B-4C46-9778-06A64034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72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72B6"/>
                </a:solidFill>
                <a:latin typeface="Microsoft YaHei"/>
                <a:ea typeface="Microsoft YaHei"/>
                <a:cs typeface="Microsoft YaHei"/>
              </a:rPr>
              <a:t>05  SLOT DIVERSITY</a:t>
            </a:r>
          </a:p>
        </p:txBody>
      </p:sp>
      <p:sp>
        <p:nvSpPr>
          <p:cNvPr id="41" name="diversity-formula">
            <a:extLst xmlns:a="http://schemas.openxmlformats.org/drawingml/2006/main">
              <a:ext uri="{FF2B5EF4-FFF2-40B4-BE49-F238E27FC236}">
                <a16:creationId xmlns:a16="http://schemas.microsoft.com/office/drawing/2014/main" id="{1B9AD794-6E9D-4755-B038-3310BD4E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76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BFF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1">
                <a:solidFill>
                  <a:srgbClr val="F7FBFF"/>
                </a:solidFill>
                <a:latin typeface="Cambria Math"/>
                <a:ea typeface="Cambria Math"/>
                <a:cs typeface="Cambria Math"/>
              </a:rPr>
              <a:t>𝓛div = 1/[BS(S−1)] ∑b ∑i≠j cos²(s[b,i], s[b,j])</a:t>
            </a:r>
          </a:p>
        </p:txBody>
      </p:sp>
    </p:spTree>
    <p:extLst>
      <p:ext uri="{BB962C8B-B14F-4D97-AF65-F5344CB8AC3E}">
        <p14:creationId xmlns:p14="http://schemas.microsoft.com/office/powerpoint/2010/main" val="500628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2026-07-18T13:29:55.7210000Z</dcterms:created>
  <dcterms:modified xsi:type="dcterms:W3CDTF">2026-07-18T13:29:55.7210000Z</dcterms:modified>
</coreProperties>
</file>